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75" r:id="rId5"/>
    <p:sldId id="273" r:id="rId6"/>
    <p:sldId id="274" r:id="rId7"/>
    <p:sldId id="259" r:id="rId8"/>
    <p:sldId id="261" r:id="rId9"/>
    <p:sldId id="263" r:id="rId10"/>
    <p:sldId id="264" r:id="rId11"/>
    <p:sldId id="265" r:id="rId12"/>
    <p:sldId id="260" r:id="rId13"/>
    <p:sldId id="276" r:id="rId14"/>
    <p:sldId id="266" r:id="rId15"/>
    <p:sldId id="267" r:id="rId16"/>
    <p:sldId id="268" r:id="rId17"/>
    <p:sldId id="269" r:id="rId18"/>
    <p:sldId id="270" r:id="rId19"/>
    <p:sldId id="272" r:id="rId20"/>
    <p:sldId id="271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36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D80E91A-D948-47DB-A8CB-BE084F97C176}" type="datetimeFigureOut">
              <a:rPr lang="zh-TW" altLang="en-US" smtClean="0"/>
              <a:t>2025/8/7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68925B1-2075-4F5D-BD7B-0169B3D30713}" type="slidenum">
              <a:rPr lang="zh-TW" altLang="en-US" smtClean="0"/>
              <a:t>‹#›</a:t>
            </a:fld>
            <a:endParaRPr lang="zh-TW" alt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40191086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E91A-D948-47DB-A8CB-BE084F97C176}" type="datetimeFigureOut">
              <a:rPr lang="zh-TW" altLang="en-US" smtClean="0"/>
              <a:t>2025/8/7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925B1-2075-4F5D-BD7B-0169B3D307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8970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D80E91A-D948-47DB-A8CB-BE084F97C176}" type="datetimeFigureOut">
              <a:rPr lang="zh-TW" altLang="en-US" smtClean="0"/>
              <a:t>2025/8/7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68925B1-2075-4F5D-BD7B-0169B3D30713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42117257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E91A-D948-47DB-A8CB-BE084F97C176}" type="datetimeFigureOut">
              <a:rPr lang="zh-TW" altLang="en-US" smtClean="0"/>
              <a:t>2025/8/7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925B1-2075-4F5D-BD7B-0169B3D307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9753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E91A-D948-47DB-A8CB-BE084F97C176}" type="datetimeFigureOut">
              <a:rPr lang="zh-TW" altLang="en-US" smtClean="0"/>
              <a:t>2025/8/7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925B1-2075-4F5D-BD7B-0169B3D307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2861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E91A-D948-47DB-A8CB-BE084F97C176}" type="datetimeFigureOut">
              <a:rPr lang="zh-TW" altLang="en-US" smtClean="0"/>
              <a:t>2025/8/7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925B1-2075-4F5D-BD7B-0169B3D307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764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E91A-D948-47DB-A8CB-BE084F97C176}" type="datetimeFigureOut">
              <a:rPr lang="zh-TW" altLang="en-US" smtClean="0"/>
              <a:t>2025/8/7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925B1-2075-4F5D-BD7B-0169B3D307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6838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D80E91A-D948-47DB-A8CB-BE084F97C176}" type="datetimeFigureOut">
              <a:rPr lang="zh-TW" altLang="en-US" smtClean="0"/>
              <a:t>2025/8/7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68925B1-2075-4F5D-BD7B-0169B3D30713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23175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D80E91A-D948-47DB-A8CB-BE084F97C176}" type="datetimeFigureOut">
              <a:rPr lang="zh-TW" altLang="en-US" smtClean="0"/>
              <a:t>2025/8/7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68925B1-2075-4F5D-BD7B-0169B3D30713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22561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E91A-D948-47DB-A8CB-BE084F97C176}" type="datetimeFigureOut">
              <a:rPr lang="zh-TW" altLang="en-US" smtClean="0"/>
              <a:t>2025/8/7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925B1-2075-4F5D-BD7B-0169B3D307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045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E91A-D948-47DB-A8CB-BE084F97C176}" type="datetimeFigureOut">
              <a:rPr lang="zh-TW" altLang="en-US" smtClean="0"/>
              <a:t>2025/8/7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925B1-2075-4F5D-BD7B-0169B3D307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1441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7D80E91A-D948-47DB-A8CB-BE084F97C176}" type="datetimeFigureOut">
              <a:rPr lang="zh-TW" altLang="en-US" smtClean="0"/>
              <a:t>2025/8/7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C68925B1-2075-4F5D-BD7B-0169B3D30713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23053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gyan.dev/ffmpeg/builds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FE2FA8-5182-B26D-CF49-B2FAA4FC26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第三周</a:t>
            </a:r>
            <a:br>
              <a:rPr lang="en-US" altLang="zh-TW" dirty="0"/>
            </a:br>
            <a:r>
              <a:rPr lang="en-US" altLang="zh-TW" dirty="0"/>
              <a:t>ASR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8562B72-6C99-B035-415D-32074E187D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D11216208</a:t>
            </a:r>
            <a:r>
              <a:rPr lang="zh-TW" altLang="en-US" dirty="0"/>
              <a:t>陳昱安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D20250722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80976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FC1985-9B81-5561-B3FA-7941D169C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ASR </a:t>
            </a:r>
            <a:r>
              <a:rPr lang="zh-TW" altLang="en-US" dirty="0"/>
              <a:t>是什麼？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111FDA8-6B35-6577-AF30-E9A267875F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ASR </a:t>
            </a:r>
            <a:r>
              <a:rPr lang="zh-TW" altLang="en-US" dirty="0"/>
              <a:t>是什麼？自動語音辨識</a:t>
            </a:r>
          </a:p>
        </p:txBody>
      </p:sp>
    </p:spTree>
    <p:extLst>
      <p:ext uri="{BB962C8B-B14F-4D97-AF65-F5344CB8AC3E}">
        <p14:creationId xmlns:p14="http://schemas.microsoft.com/office/powerpoint/2010/main" val="2381449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85A0C8BF-5D02-FB2C-8421-56687E5AF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ASR</a:t>
            </a:r>
            <a:r>
              <a:rPr lang="zh-TW" altLang="en-US" dirty="0"/>
              <a:t>是什麼</a:t>
            </a:r>
            <a:r>
              <a:rPr lang="en-US" altLang="zh-TW" dirty="0"/>
              <a:t>?</a:t>
            </a:r>
            <a:endParaRPr lang="zh-TW" altLang="en-US" dirty="0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61CE35A0-4FD0-92F3-D7F6-7A2C5DE7C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是</a:t>
            </a:r>
            <a:r>
              <a:rPr lang="en-US" altLang="zh-TW" dirty="0"/>
              <a:t>automatically speech recognition </a:t>
            </a:r>
            <a:r>
              <a:rPr lang="zh-TW" altLang="en-US" dirty="0"/>
              <a:t>的縮寫 中文意思是 自動語音辨識</a:t>
            </a:r>
            <a:endParaRPr lang="en-US" altLang="zh-TW" dirty="0"/>
          </a:p>
          <a:p>
            <a:r>
              <a:rPr lang="zh-TW" altLang="en-US" dirty="0"/>
              <a:t>自動語音辨識是讓電腦將語音訊號轉換為對應文字的過程。</a:t>
            </a:r>
            <a:endParaRPr lang="en-US" altLang="zh-TW" dirty="0"/>
          </a:p>
          <a:p>
            <a:r>
              <a:rPr lang="zh-TW" altLang="en-US" dirty="0"/>
              <a:t>是指一種讓電腦能夠「聽懂人類語音」並自動轉換成文字的技術。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功能流程簡述：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🎤 收音：錄下使用者說的話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🎼 語音訊號處理：將聲音轉為數位訊號並進行特徵分析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🧠 比對與辨識：透過 </a:t>
            </a:r>
            <a:r>
              <a:rPr lang="en-US" altLang="zh-TW" dirty="0"/>
              <a:t>AI </a:t>
            </a:r>
            <a:r>
              <a:rPr lang="zh-TW" altLang="en-US" dirty="0"/>
              <a:t>模型分析語音內容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📄 輸出文字：將語音內容轉換為可讀的文字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04588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683F3D-5A23-CF3F-8067-C930FEFCF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常見用途：</a:t>
            </a:r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329898EC-60B6-4BC6-310E-70ECBCD1C2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6596946"/>
              </p:ext>
            </p:extLst>
          </p:nvPr>
        </p:nvGraphicFramePr>
        <p:xfrm>
          <a:off x="1425555" y="1977998"/>
          <a:ext cx="9394846" cy="219456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2509183">
                  <a:extLst>
                    <a:ext uri="{9D8B030D-6E8A-4147-A177-3AD203B41FA5}">
                      <a16:colId xmlns:a16="http://schemas.microsoft.com/office/drawing/2014/main" val="98277319"/>
                    </a:ext>
                  </a:extLst>
                </a:gridCol>
                <a:gridCol w="6885663">
                  <a:extLst>
                    <a:ext uri="{9D8B030D-6E8A-4147-A177-3AD203B41FA5}">
                      <a16:colId xmlns:a16="http://schemas.microsoft.com/office/drawing/2014/main" val="26924777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TW" altLang="en-US" dirty="0"/>
                        <a:t>用途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說明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5961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 dirty="0"/>
                        <a:t>🎙 語音輸入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像是 </a:t>
                      </a:r>
                      <a:r>
                        <a:rPr lang="en-US"/>
                        <a:t>Google </a:t>
                      </a:r>
                      <a:r>
                        <a:rPr lang="zh-TW" altLang="en-US"/>
                        <a:t>語音輸入、</a:t>
                      </a:r>
                      <a:r>
                        <a:rPr lang="en-US"/>
                        <a:t>iPhone Siri </a:t>
                      </a:r>
                      <a:r>
                        <a:rPr lang="zh-TW" altLang="en-US"/>
                        <a:t>輸入文字功能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89207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/>
                        <a:t>🎧 字幕產生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YouTube </a:t>
                      </a:r>
                      <a:r>
                        <a:rPr lang="zh-TW" altLang="en-US" dirty="0"/>
                        <a:t>自動字幕、會議記錄（</a:t>
                      </a:r>
                      <a:r>
                        <a:rPr lang="en-US" altLang="zh-TW" dirty="0"/>
                        <a:t>Zoom</a:t>
                      </a:r>
                      <a:r>
                        <a:rPr lang="zh-TW" altLang="en-US" dirty="0"/>
                        <a:t>、</a:t>
                      </a:r>
                      <a:r>
                        <a:rPr lang="en-US" altLang="zh-TW" dirty="0"/>
                        <a:t>Teams</a:t>
                      </a:r>
                      <a:r>
                        <a:rPr lang="zh-TW" altLang="en-US" dirty="0"/>
                        <a:t>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3206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/>
                        <a:t>📞 電話客服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認出你說的語句，做自動應答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20854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/>
                        <a:t>🤖 語音助理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Alexa、Google Assistant、Siri </a:t>
                      </a:r>
                      <a:r>
                        <a:rPr lang="zh-TW" altLang="en-US"/>
                        <a:t>等虛擬助理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81985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/>
                        <a:t>📝 語音筆記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像 </a:t>
                      </a:r>
                      <a:r>
                        <a:rPr lang="en-US" dirty="0" err="1"/>
                        <a:t>Notta、Whisper</a:t>
                      </a:r>
                      <a:r>
                        <a:rPr lang="en-US" dirty="0"/>
                        <a:t> </a:t>
                      </a:r>
                      <a:r>
                        <a:rPr lang="zh-TW" altLang="en-US" dirty="0"/>
                        <a:t>等語音轉錄工具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4112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7492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AD28C07A-2009-3CA6-3419-B0D73016B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0"/>
            <a:ext cx="90492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541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B8D9A209-7442-212C-0FA6-E4004BC6F5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0038" y="0"/>
            <a:ext cx="90503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5555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48CE2C31-6A38-05C5-771C-F5CAD8305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展示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74578FF-5798-0B06-7E60-E58A38B708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基礎功能辨識</a:t>
            </a:r>
            <a:r>
              <a:rPr lang="en-US" altLang="zh-TW" dirty="0"/>
              <a:t>wav</a:t>
            </a:r>
            <a:r>
              <a:rPr lang="zh-TW" altLang="en-US" dirty="0"/>
              <a:t>音訊</a:t>
            </a:r>
          </a:p>
        </p:txBody>
      </p:sp>
    </p:spTree>
    <p:extLst>
      <p:ext uri="{BB962C8B-B14F-4D97-AF65-F5344CB8AC3E}">
        <p14:creationId xmlns:p14="http://schemas.microsoft.com/office/powerpoint/2010/main" val="3457555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5B3317EA-3E70-50EF-2CDD-DBFB92E34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asr_whisper</a:t>
            </a:r>
            <a:endParaRPr lang="zh-TW" altLang="en-US" dirty="0"/>
          </a:p>
        </p:txBody>
      </p:sp>
      <p:pic>
        <p:nvPicPr>
          <p:cNvPr id="12" name="內容版面配置區 11">
            <a:extLst>
              <a:ext uri="{FF2B5EF4-FFF2-40B4-BE49-F238E27FC236}">
                <a16:creationId xmlns:a16="http://schemas.microsoft.com/office/drawing/2014/main" id="{DA7475B0-E4A1-E536-9248-B41EEAD581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600" y="1340324"/>
            <a:ext cx="9601200" cy="929148"/>
          </a:xfrm>
        </p:spPr>
      </p:pic>
      <p:sp>
        <p:nvSpPr>
          <p:cNvPr id="13" name="內容版面配置區 4">
            <a:extLst>
              <a:ext uri="{FF2B5EF4-FFF2-40B4-BE49-F238E27FC236}">
                <a16:creationId xmlns:a16="http://schemas.microsoft.com/office/drawing/2014/main" id="{E19DCD33-027D-51B4-5ED6-3B6C54C6042E}"/>
              </a:ext>
            </a:extLst>
          </p:cNvPr>
          <p:cNvSpPr txBox="1">
            <a:spLocks/>
          </p:cNvSpPr>
          <p:nvPr/>
        </p:nvSpPr>
        <p:spPr>
          <a:xfrm>
            <a:off x="1371600" y="2462064"/>
            <a:ext cx="9601200" cy="3581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Font typeface="Franklin Gothic Book" panose="020B0503020102020204" pitchFamily="34" charset="0"/>
              <a:buNone/>
            </a:pPr>
            <a:r>
              <a:rPr lang="en-US" altLang="zh-TW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4EC9B0"/>
                </a:solidFill>
                <a:latin typeface="Consolas" panose="020B0609020204030204" pitchFamily="49" charset="0"/>
              </a:rPr>
              <a:t>whisper</a:t>
            </a:r>
            <a:endParaRPr lang="en-US" altLang="zh-TW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Font typeface="Franklin Gothic Book" panose="020B0503020102020204" pitchFamily="34" charset="0"/>
              <a:buNone/>
            </a:pPr>
            <a:b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altLang="zh-TW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 err="1">
                <a:solidFill>
                  <a:srgbClr val="DCDCAA"/>
                </a:solidFill>
                <a:latin typeface="Consolas" panose="020B0609020204030204" pitchFamily="49" charset="0"/>
              </a:rPr>
              <a:t>transcribe_audio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zh-TW" dirty="0" err="1">
                <a:solidFill>
                  <a:srgbClr val="9CDCFE"/>
                </a:solidFill>
                <a:latin typeface="Consolas" panose="020B0609020204030204" pitchFamily="49" charset="0"/>
              </a:rPr>
              <a:t>file_path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en-US" altLang="zh-TW" dirty="0">
                <a:solidFill>
                  <a:srgbClr val="4EC9B0"/>
                </a:solidFill>
                <a:latin typeface="Consolas" panose="020B0609020204030204" pitchFamily="49" charset="0"/>
              </a:rPr>
              <a:t>str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pPr marL="0" indent="0">
              <a:spcBef>
                <a:spcPts val="600"/>
              </a:spcBef>
              <a:buFont typeface="Franklin Gothic Book" panose="020B0503020102020204" pitchFamily="34" charset="0"/>
              <a:buNone/>
            </a:pP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zh-TW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zh-TW" altLang="en-US" dirty="0">
                <a:solidFill>
                  <a:srgbClr val="CE9178"/>
                </a:solidFill>
                <a:latin typeface="Consolas" panose="020B0609020204030204" pitchFamily="49" charset="0"/>
              </a:rPr>
              <a:t>🔍 載入模型</a:t>
            </a:r>
            <a:r>
              <a:rPr lang="en-US" altLang="zh-TW" dirty="0">
                <a:solidFill>
                  <a:srgbClr val="CE9178"/>
                </a:solidFill>
                <a:latin typeface="Consolas" panose="020B0609020204030204" pitchFamily="49" charset="0"/>
              </a:rPr>
              <a:t>..."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600"/>
              </a:spcBef>
              <a:buFont typeface="Franklin Gothic Book" panose="020B0503020102020204" pitchFamily="34" charset="0"/>
              <a:buNone/>
            </a:pP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>
                <a:solidFill>
                  <a:srgbClr val="9CDCFE"/>
                </a:solidFill>
                <a:latin typeface="Consolas" panose="020B0609020204030204" pitchFamily="49" charset="0"/>
              </a:rPr>
              <a:t>model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 err="1">
                <a:solidFill>
                  <a:srgbClr val="4EC9B0"/>
                </a:solidFill>
                <a:latin typeface="Consolas" panose="020B0609020204030204" pitchFamily="49" charset="0"/>
              </a:rPr>
              <a:t>whisper</a:t>
            </a:r>
            <a:r>
              <a:rPr lang="en-US" altLang="zh-TW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altLang="zh-TW" dirty="0" err="1">
                <a:solidFill>
                  <a:srgbClr val="DCDCAA"/>
                </a:solidFill>
                <a:latin typeface="Consolas" panose="020B0609020204030204" pitchFamily="49" charset="0"/>
              </a:rPr>
              <a:t>load_model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zh-TW" dirty="0">
                <a:solidFill>
                  <a:srgbClr val="CE9178"/>
                </a:solidFill>
                <a:latin typeface="Consolas" panose="020B0609020204030204" pitchFamily="49" charset="0"/>
              </a:rPr>
              <a:t>"base"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600"/>
              </a:spcBef>
              <a:buFont typeface="Franklin Gothic Book" panose="020B0503020102020204" pitchFamily="34" charset="0"/>
              <a:buNone/>
            </a:pP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zh-TW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zh-TW" altLang="en-US" dirty="0">
                <a:solidFill>
                  <a:srgbClr val="CE9178"/>
                </a:solidFill>
                <a:latin typeface="Consolas" panose="020B0609020204030204" pitchFamily="49" charset="0"/>
              </a:rPr>
              <a:t>✅ 模型載入完成。開始辨識音訊檔</a:t>
            </a:r>
            <a:r>
              <a:rPr lang="en-US" altLang="zh-TW" dirty="0">
                <a:solidFill>
                  <a:srgbClr val="CE9178"/>
                </a:solidFill>
                <a:latin typeface="Consolas" panose="020B0609020204030204" pitchFamily="49" charset="0"/>
              </a:rPr>
              <a:t>..."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600"/>
              </a:spcBef>
              <a:buFont typeface="Franklin Gothic Book" panose="020B0503020102020204" pitchFamily="34" charset="0"/>
              <a:buNone/>
            </a:pPr>
            <a:b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>
                <a:solidFill>
                  <a:srgbClr val="9CDCFE"/>
                </a:solidFill>
                <a:latin typeface="Consolas" panose="020B0609020204030204" pitchFamily="49" charset="0"/>
              </a:rPr>
              <a:t>result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 err="1">
                <a:solidFill>
                  <a:srgbClr val="9CDCFE"/>
                </a:solidFill>
                <a:latin typeface="Consolas" panose="020B0609020204030204" pitchFamily="49" charset="0"/>
              </a:rPr>
              <a:t>model</a:t>
            </a:r>
            <a:r>
              <a:rPr lang="en-US" altLang="zh-TW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altLang="zh-TW" dirty="0" err="1">
                <a:solidFill>
                  <a:srgbClr val="9CDCFE"/>
                </a:solidFill>
                <a:latin typeface="Consolas" panose="020B0609020204030204" pitchFamily="49" charset="0"/>
              </a:rPr>
              <a:t>transcribe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zh-TW" dirty="0" err="1">
                <a:solidFill>
                  <a:srgbClr val="9CDCFE"/>
                </a:solidFill>
                <a:latin typeface="Consolas" panose="020B0609020204030204" pitchFamily="49" charset="0"/>
              </a:rPr>
              <a:t>file_path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600"/>
              </a:spcBef>
              <a:buFont typeface="Franklin Gothic Book" panose="020B0503020102020204" pitchFamily="34" charset="0"/>
              <a:buNone/>
            </a:pPr>
            <a:b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zh-TW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altLang="zh-TW" dirty="0">
                <a:solidFill>
                  <a:srgbClr val="D7BA7D"/>
                </a:solidFill>
                <a:latin typeface="Consolas" panose="020B0609020204030204" pitchFamily="49" charset="0"/>
              </a:rPr>
              <a:t>\n</a:t>
            </a:r>
            <a:r>
              <a:rPr lang="zh-TW" altLang="en-US" dirty="0">
                <a:solidFill>
                  <a:srgbClr val="CE9178"/>
                </a:solidFill>
                <a:latin typeface="Consolas" panose="020B0609020204030204" pitchFamily="49" charset="0"/>
              </a:rPr>
              <a:t>📝 辨識結果：</a:t>
            </a:r>
            <a:r>
              <a:rPr lang="en-US" altLang="zh-TW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600"/>
              </a:spcBef>
              <a:buFont typeface="Franklin Gothic Book" panose="020B0503020102020204" pitchFamily="34" charset="0"/>
              <a:buNone/>
            </a:pP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zh-TW" dirty="0">
                <a:solidFill>
                  <a:srgbClr val="9CDCFE"/>
                </a:solidFill>
                <a:latin typeface="Consolas" panose="020B0609020204030204" pitchFamily="49" charset="0"/>
              </a:rPr>
              <a:t>result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en-US" altLang="zh-TW" dirty="0">
                <a:solidFill>
                  <a:srgbClr val="CE9178"/>
                </a:solidFill>
                <a:latin typeface="Consolas" panose="020B0609020204030204" pitchFamily="49" charset="0"/>
              </a:rPr>
              <a:t>"text"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])</a:t>
            </a:r>
          </a:p>
          <a:p>
            <a:pPr marL="0" indent="0">
              <a:spcBef>
                <a:spcPts val="600"/>
              </a:spcBef>
              <a:buFont typeface="Franklin Gothic Book" panose="020B0503020102020204" pitchFamily="34" charset="0"/>
              <a:buNone/>
            </a:pPr>
            <a:b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altLang="zh-TW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9CDCFE"/>
                </a:solidFill>
                <a:latin typeface="Consolas" panose="020B0609020204030204" pitchFamily="49" charset="0"/>
              </a:rPr>
              <a:t>__name__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D4D4D4"/>
                </a:solidFill>
                <a:latin typeface="Consolas" panose="020B0609020204030204" pitchFamily="49" charset="0"/>
              </a:rPr>
              <a:t>==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CE9178"/>
                </a:solidFill>
                <a:latin typeface="Consolas" panose="020B0609020204030204" pitchFamily="49" charset="0"/>
              </a:rPr>
              <a:t>"__main__"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 marL="0" indent="0">
              <a:spcBef>
                <a:spcPts val="600"/>
              </a:spcBef>
              <a:buFont typeface="Franklin Gothic Book" panose="020B0503020102020204" pitchFamily="34" charset="0"/>
              <a:buNone/>
            </a:pP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 err="1">
                <a:solidFill>
                  <a:srgbClr val="9CDCFE"/>
                </a:solidFill>
                <a:latin typeface="Consolas" panose="020B0609020204030204" pitchFamily="49" charset="0"/>
              </a:rPr>
              <a:t>audio_path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CE9178"/>
                </a:solidFill>
                <a:latin typeface="Consolas" panose="020B0609020204030204" pitchFamily="49" charset="0"/>
              </a:rPr>
              <a:t>"sample.wav"</a:t>
            </a:r>
            <a:endParaRPr lang="en-US" altLang="zh-TW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Font typeface="Franklin Gothic Book" panose="020B0503020102020204" pitchFamily="34" charset="0"/>
              <a:buNone/>
            </a:pP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 err="1">
                <a:solidFill>
                  <a:srgbClr val="DCDCAA"/>
                </a:solidFill>
                <a:latin typeface="Consolas" panose="020B0609020204030204" pitchFamily="49" charset="0"/>
              </a:rPr>
              <a:t>transcribe_audio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zh-TW" dirty="0" err="1">
                <a:solidFill>
                  <a:srgbClr val="9CDCFE"/>
                </a:solidFill>
                <a:latin typeface="Consolas" panose="020B0609020204030204" pitchFamily="49" charset="0"/>
              </a:rPr>
              <a:t>audio_path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23874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A932FC-9B03-63E3-069D-56A03760B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實作</a:t>
            </a:r>
            <a:r>
              <a:rPr lang="en-US" altLang="zh-TW" dirty="0"/>
              <a:t>ASR</a:t>
            </a:r>
            <a:r>
              <a:rPr lang="zh-TW" altLang="en-US" dirty="0"/>
              <a:t>應用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33E804B-4094-9A57-7894-D00F038B9E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dirty="0"/>
              <a:t>安裝必要的</a:t>
            </a:r>
            <a:r>
              <a:rPr lang="en-US" altLang="zh-TW" dirty="0"/>
              <a:t>Python </a:t>
            </a:r>
            <a:r>
              <a:rPr lang="zh-TW" altLang="en-US" dirty="0"/>
              <a:t>的套件</a:t>
            </a:r>
            <a:endParaRPr lang="en-US" altLang="zh-TW" dirty="0"/>
          </a:p>
          <a:p>
            <a:r>
              <a:rPr lang="en-US" altLang="zh-TW" dirty="0" err="1"/>
              <a:t>FFmpeg</a:t>
            </a:r>
            <a:r>
              <a:rPr lang="en-US" altLang="zh-TW" dirty="0"/>
              <a:t> </a:t>
            </a:r>
            <a:r>
              <a:rPr lang="zh-TW" altLang="en-US" dirty="0"/>
              <a:t>多媒體處理工具</a:t>
            </a:r>
            <a:endParaRPr lang="en-US" altLang="zh-TW" dirty="0"/>
          </a:p>
          <a:p>
            <a:r>
              <a:rPr lang="en-US" altLang="zh-TW" dirty="0"/>
              <a:t>python</a:t>
            </a:r>
            <a:r>
              <a:rPr lang="zh-TW" altLang="en-US" dirty="0"/>
              <a:t>程式說明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80133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8FB74E73-FA14-E7F9-D705-C1388E563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Python</a:t>
            </a:r>
            <a:r>
              <a:rPr lang="zh-TW" altLang="en-US" dirty="0"/>
              <a:t>程式</a:t>
            </a:r>
          </a:p>
        </p:txBody>
      </p:sp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4A320E56-694D-79FD-648E-7114E103AFD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Font typeface="Franklin Gothic Book" panose="020B0503020102020204" pitchFamily="34" charset="0"/>
              <a:buNone/>
            </a:pPr>
            <a:r>
              <a:rPr lang="en-US" altLang="zh-TW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4EC9B0"/>
                </a:solidFill>
                <a:latin typeface="Consolas" panose="020B0609020204030204" pitchFamily="49" charset="0"/>
              </a:rPr>
              <a:t>whisper</a:t>
            </a:r>
            <a:endParaRPr lang="en-US" altLang="zh-TW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Font typeface="Franklin Gothic Book" panose="020B0503020102020204" pitchFamily="34" charset="0"/>
              <a:buNone/>
            </a:pPr>
            <a:b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altLang="zh-TW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 err="1">
                <a:solidFill>
                  <a:srgbClr val="DCDCAA"/>
                </a:solidFill>
                <a:latin typeface="Consolas" panose="020B0609020204030204" pitchFamily="49" charset="0"/>
              </a:rPr>
              <a:t>transcribe_audio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zh-TW" dirty="0" err="1">
                <a:solidFill>
                  <a:srgbClr val="9CDCFE"/>
                </a:solidFill>
                <a:latin typeface="Consolas" panose="020B0609020204030204" pitchFamily="49" charset="0"/>
              </a:rPr>
              <a:t>file_path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en-US" altLang="zh-TW" dirty="0">
                <a:solidFill>
                  <a:srgbClr val="4EC9B0"/>
                </a:solidFill>
                <a:latin typeface="Consolas" panose="020B0609020204030204" pitchFamily="49" charset="0"/>
              </a:rPr>
              <a:t>str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pPr marL="0" indent="0">
              <a:spcBef>
                <a:spcPts val="600"/>
              </a:spcBef>
              <a:buFont typeface="Franklin Gothic Book" panose="020B0503020102020204" pitchFamily="34" charset="0"/>
              <a:buNone/>
            </a:pP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zh-TW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zh-TW" altLang="en-US" dirty="0">
                <a:solidFill>
                  <a:srgbClr val="CE9178"/>
                </a:solidFill>
                <a:latin typeface="Consolas" panose="020B0609020204030204" pitchFamily="49" charset="0"/>
              </a:rPr>
              <a:t>🔍 載入模型</a:t>
            </a:r>
            <a:r>
              <a:rPr lang="en-US" altLang="zh-TW" dirty="0">
                <a:solidFill>
                  <a:srgbClr val="CE9178"/>
                </a:solidFill>
                <a:latin typeface="Consolas" panose="020B0609020204030204" pitchFamily="49" charset="0"/>
              </a:rPr>
              <a:t>..."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600"/>
              </a:spcBef>
              <a:buFont typeface="Franklin Gothic Book" panose="020B0503020102020204" pitchFamily="34" charset="0"/>
              <a:buNone/>
            </a:pP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>
                <a:solidFill>
                  <a:srgbClr val="9CDCFE"/>
                </a:solidFill>
                <a:latin typeface="Consolas" panose="020B0609020204030204" pitchFamily="49" charset="0"/>
              </a:rPr>
              <a:t>model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 err="1">
                <a:solidFill>
                  <a:srgbClr val="4EC9B0"/>
                </a:solidFill>
                <a:latin typeface="Consolas" panose="020B0609020204030204" pitchFamily="49" charset="0"/>
              </a:rPr>
              <a:t>whisper</a:t>
            </a:r>
            <a:r>
              <a:rPr lang="en-US" altLang="zh-TW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altLang="zh-TW" dirty="0" err="1">
                <a:solidFill>
                  <a:srgbClr val="DCDCAA"/>
                </a:solidFill>
                <a:latin typeface="Consolas" panose="020B0609020204030204" pitchFamily="49" charset="0"/>
              </a:rPr>
              <a:t>load_model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zh-TW" dirty="0">
                <a:solidFill>
                  <a:srgbClr val="CE9178"/>
                </a:solidFill>
                <a:latin typeface="Consolas" panose="020B0609020204030204" pitchFamily="49" charset="0"/>
              </a:rPr>
              <a:t>"base"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600"/>
              </a:spcBef>
              <a:buFont typeface="Franklin Gothic Book" panose="020B0503020102020204" pitchFamily="34" charset="0"/>
              <a:buNone/>
            </a:pP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zh-TW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zh-TW" altLang="en-US" dirty="0">
                <a:solidFill>
                  <a:srgbClr val="CE9178"/>
                </a:solidFill>
                <a:latin typeface="Consolas" panose="020B0609020204030204" pitchFamily="49" charset="0"/>
              </a:rPr>
              <a:t>✅ 模型載入完成。開始辨識音訊檔</a:t>
            </a:r>
            <a:r>
              <a:rPr lang="en-US" altLang="zh-TW" dirty="0">
                <a:solidFill>
                  <a:srgbClr val="CE9178"/>
                </a:solidFill>
                <a:latin typeface="Consolas" panose="020B0609020204030204" pitchFamily="49" charset="0"/>
              </a:rPr>
              <a:t>..."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600"/>
              </a:spcBef>
              <a:buFont typeface="Franklin Gothic Book" panose="020B0503020102020204" pitchFamily="34" charset="0"/>
              <a:buNone/>
            </a:pPr>
            <a:b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>
                <a:solidFill>
                  <a:srgbClr val="9CDCFE"/>
                </a:solidFill>
                <a:latin typeface="Consolas" panose="020B0609020204030204" pitchFamily="49" charset="0"/>
              </a:rPr>
              <a:t>result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 err="1">
                <a:solidFill>
                  <a:srgbClr val="9CDCFE"/>
                </a:solidFill>
                <a:latin typeface="Consolas" panose="020B0609020204030204" pitchFamily="49" charset="0"/>
              </a:rPr>
              <a:t>model</a:t>
            </a:r>
            <a:r>
              <a:rPr lang="en-US" altLang="zh-TW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altLang="zh-TW" dirty="0" err="1">
                <a:solidFill>
                  <a:srgbClr val="9CDCFE"/>
                </a:solidFill>
                <a:latin typeface="Consolas" panose="020B0609020204030204" pitchFamily="49" charset="0"/>
              </a:rPr>
              <a:t>transcribe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zh-TW" dirty="0" err="1">
                <a:solidFill>
                  <a:srgbClr val="9CDCFE"/>
                </a:solidFill>
                <a:latin typeface="Consolas" panose="020B0609020204030204" pitchFamily="49" charset="0"/>
              </a:rPr>
              <a:t>file_path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600"/>
              </a:spcBef>
              <a:buFont typeface="Franklin Gothic Book" panose="020B0503020102020204" pitchFamily="34" charset="0"/>
              <a:buNone/>
            </a:pPr>
            <a:b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zh-TW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altLang="zh-TW" dirty="0">
                <a:solidFill>
                  <a:srgbClr val="D7BA7D"/>
                </a:solidFill>
                <a:latin typeface="Consolas" panose="020B0609020204030204" pitchFamily="49" charset="0"/>
              </a:rPr>
              <a:t>\n</a:t>
            </a:r>
            <a:r>
              <a:rPr lang="zh-TW" altLang="en-US" dirty="0">
                <a:solidFill>
                  <a:srgbClr val="CE9178"/>
                </a:solidFill>
                <a:latin typeface="Consolas" panose="020B0609020204030204" pitchFamily="49" charset="0"/>
              </a:rPr>
              <a:t>📝 辨識結果：</a:t>
            </a:r>
            <a:r>
              <a:rPr lang="en-US" altLang="zh-TW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600"/>
              </a:spcBef>
              <a:buFont typeface="Franklin Gothic Book" panose="020B0503020102020204" pitchFamily="34" charset="0"/>
              <a:buNone/>
            </a:pP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zh-TW" dirty="0">
                <a:solidFill>
                  <a:srgbClr val="9CDCFE"/>
                </a:solidFill>
                <a:latin typeface="Consolas" panose="020B0609020204030204" pitchFamily="49" charset="0"/>
              </a:rPr>
              <a:t>result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en-US" altLang="zh-TW" dirty="0">
                <a:solidFill>
                  <a:srgbClr val="CE9178"/>
                </a:solidFill>
                <a:latin typeface="Consolas" panose="020B0609020204030204" pitchFamily="49" charset="0"/>
              </a:rPr>
              <a:t>"text"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])</a:t>
            </a:r>
          </a:p>
          <a:p>
            <a:pPr marL="0" indent="0">
              <a:spcBef>
                <a:spcPts val="600"/>
              </a:spcBef>
              <a:buFont typeface="Franklin Gothic Book" panose="020B0503020102020204" pitchFamily="34" charset="0"/>
              <a:buNone/>
            </a:pPr>
            <a:b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altLang="zh-TW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9CDCFE"/>
                </a:solidFill>
                <a:latin typeface="Consolas" panose="020B0609020204030204" pitchFamily="49" charset="0"/>
              </a:rPr>
              <a:t>__name__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D4D4D4"/>
                </a:solidFill>
                <a:latin typeface="Consolas" panose="020B0609020204030204" pitchFamily="49" charset="0"/>
              </a:rPr>
              <a:t>==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CE9178"/>
                </a:solidFill>
                <a:latin typeface="Consolas" panose="020B0609020204030204" pitchFamily="49" charset="0"/>
              </a:rPr>
              <a:t>"__main__"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 marL="0" indent="0">
              <a:spcBef>
                <a:spcPts val="600"/>
              </a:spcBef>
              <a:buFont typeface="Franklin Gothic Book" panose="020B0503020102020204" pitchFamily="34" charset="0"/>
              <a:buNone/>
            </a:pP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 err="1">
                <a:solidFill>
                  <a:srgbClr val="9CDCFE"/>
                </a:solidFill>
                <a:latin typeface="Consolas" panose="020B0609020204030204" pitchFamily="49" charset="0"/>
              </a:rPr>
              <a:t>audio_path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CE9178"/>
                </a:solidFill>
                <a:latin typeface="Consolas" panose="020B0609020204030204" pitchFamily="49" charset="0"/>
              </a:rPr>
              <a:t>"sample.wav"</a:t>
            </a:r>
            <a:endParaRPr lang="en-US" altLang="zh-TW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Font typeface="Franklin Gothic Book" panose="020B0503020102020204" pitchFamily="34" charset="0"/>
              <a:buNone/>
            </a:pP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 err="1">
                <a:solidFill>
                  <a:srgbClr val="DCDCAA"/>
                </a:solidFill>
                <a:latin typeface="Consolas" panose="020B0609020204030204" pitchFamily="49" charset="0"/>
              </a:rPr>
              <a:t>transcribe_audio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zh-TW" dirty="0" err="1">
                <a:solidFill>
                  <a:srgbClr val="9CDCFE"/>
                </a:solidFill>
                <a:latin typeface="Consolas" panose="020B0609020204030204" pitchFamily="49" charset="0"/>
              </a:rPr>
              <a:t>audio_path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520277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28CBA4-E2D5-037E-FE1B-366688D24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python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5DE92D1-FAF2-7B5A-16C5-499CCB726F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/>
              <a:t>pip install </a:t>
            </a:r>
            <a:r>
              <a:rPr lang="en-US" altLang="zh-TW" dirty="0" err="1"/>
              <a:t>openai</a:t>
            </a:r>
            <a:r>
              <a:rPr lang="en-US" altLang="zh-TW" dirty="0"/>
              <a:t>-whisper</a:t>
            </a:r>
          </a:p>
          <a:p>
            <a:pPr marL="0" indent="0">
              <a:buNone/>
            </a:pPr>
            <a:r>
              <a:rPr lang="en-US" altLang="zh-TW" dirty="0"/>
              <a:t>pip install </a:t>
            </a:r>
            <a:r>
              <a:rPr lang="en-US" altLang="zh-TW" dirty="0" err="1"/>
              <a:t>sounddevice</a:t>
            </a:r>
            <a:r>
              <a:rPr lang="en-US" altLang="zh-TW" dirty="0"/>
              <a:t> </a:t>
            </a:r>
            <a:r>
              <a:rPr lang="en-US" altLang="zh-TW" dirty="0" err="1"/>
              <a:t>scipy</a:t>
            </a: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73650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8E3B91-56C9-6F4D-BF26-5370C3434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安裝</a:t>
            </a:r>
            <a:r>
              <a:rPr lang="en-US" altLang="zh-TW" dirty="0" err="1"/>
              <a:t>ffmpeg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0768AE9-B89E-D1B7-8ED1-8DFF65CBFB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err="1"/>
              <a:t>FFmpeg</a:t>
            </a:r>
            <a:r>
              <a:rPr lang="en-US" altLang="zh-TW" dirty="0"/>
              <a:t> </a:t>
            </a:r>
            <a:r>
              <a:rPr lang="zh-TW" altLang="en-US" dirty="0"/>
              <a:t>是一個免費開源的多媒體處理工具，</a:t>
            </a:r>
            <a:endParaRPr lang="en-US" altLang="zh-TW" dirty="0"/>
          </a:p>
          <a:p>
            <a:r>
              <a:rPr lang="zh-TW" altLang="en-US" dirty="0"/>
              <a:t>可用來轉換、錄製、剪輯、串流音訊與影片。</a:t>
            </a:r>
          </a:p>
        </p:txBody>
      </p:sp>
    </p:spTree>
    <p:extLst>
      <p:ext uri="{BB962C8B-B14F-4D97-AF65-F5344CB8AC3E}">
        <p14:creationId xmlns:p14="http://schemas.microsoft.com/office/powerpoint/2010/main" val="18324448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4218A8-543D-7873-ACE6-0E830C33D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介紹</a:t>
            </a:r>
            <a:r>
              <a:rPr lang="en-US" altLang="zh-TW" dirty="0"/>
              <a:t>:</a:t>
            </a:r>
            <a:r>
              <a:rPr lang="en-US" altLang="zh-TW" dirty="0" err="1"/>
              <a:t>ffmpeg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1B95FE4-37BE-6576-B157-F0A5FBA25F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ffmpeg</a:t>
            </a:r>
            <a:r>
              <a:rPr lang="en-US" altLang="zh-TW" dirty="0"/>
              <a:t> </a:t>
            </a:r>
            <a:r>
              <a:rPr lang="zh-TW" altLang="en-US" dirty="0"/>
              <a:t>是一個「指令列工具」，用來轉換、剪輯、壓縮、錄製、串流影片和音訊的工具包。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A7FB6352-9884-351A-9AE9-E8A55D16A0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4954969"/>
              </p:ext>
            </p:extLst>
          </p:nvPr>
        </p:nvGraphicFramePr>
        <p:xfrm>
          <a:off x="1371600" y="2932848"/>
          <a:ext cx="9601200" cy="2560320"/>
        </p:xfrm>
        <a:graphic>
          <a:graphicData uri="http://schemas.openxmlformats.org/drawingml/2006/table">
            <a:tbl>
              <a:tblPr/>
              <a:tblGrid>
                <a:gridCol w="4035287">
                  <a:extLst>
                    <a:ext uri="{9D8B030D-6E8A-4147-A177-3AD203B41FA5}">
                      <a16:colId xmlns:a16="http://schemas.microsoft.com/office/drawing/2014/main" val="418993166"/>
                    </a:ext>
                  </a:extLst>
                </a:gridCol>
                <a:gridCol w="5565913">
                  <a:extLst>
                    <a:ext uri="{9D8B030D-6E8A-4147-A177-3AD203B41FA5}">
                      <a16:colId xmlns:a16="http://schemas.microsoft.com/office/drawing/2014/main" val="5247336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TW" altLang="en-US" dirty="0"/>
                        <a:t>功能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說明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20482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 dirty="0"/>
                        <a:t>🎧 音訊轉檔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把 </a:t>
                      </a:r>
                      <a:r>
                        <a:rPr lang="en-US" altLang="zh-TW" dirty="0"/>
                        <a:t>.</a:t>
                      </a:r>
                      <a:r>
                        <a:rPr lang="en-US" dirty="0"/>
                        <a:t>m4a </a:t>
                      </a:r>
                      <a:r>
                        <a:rPr lang="zh-TW" altLang="en-US" dirty="0"/>
                        <a:t>轉成 </a:t>
                      </a:r>
                      <a:r>
                        <a:rPr lang="en-US" altLang="zh-TW" dirty="0"/>
                        <a:t>.</a:t>
                      </a:r>
                      <a:r>
                        <a:rPr lang="en-US" dirty="0"/>
                        <a:t>mp3、.wav </a:t>
                      </a:r>
                      <a:r>
                        <a:rPr lang="zh-TW" altLang="en-US" dirty="0"/>
                        <a:t>等格式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91621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 dirty="0"/>
                        <a:t>🎥 視訊轉檔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把 </a:t>
                      </a:r>
                      <a:r>
                        <a:rPr lang="en-US" altLang="zh-TW"/>
                        <a:t>.</a:t>
                      </a:r>
                      <a:r>
                        <a:rPr lang="en-US"/>
                        <a:t>mov </a:t>
                      </a:r>
                      <a:r>
                        <a:rPr lang="zh-TW" altLang="en-US"/>
                        <a:t>轉成 </a:t>
                      </a:r>
                      <a:r>
                        <a:rPr lang="en-US" altLang="zh-TW"/>
                        <a:t>.</a:t>
                      </a:r>
                      <a:r>
                        <a:rPr lang="en-US"/>
                        <a:t>mp4 </a:t>
                      </a:r>
                      <a:r>
                        <a:rPr lang="zh-TW" altLang="en-US"/>
                        <a:t>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66244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 dirty="0"/>
                        <a:t>✂️ 視音剪輯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裁切影片片段、剪下音訊某部分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6272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 dirty="0"/>
                        <a:t>🔊 音量調整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提高</a:t>
                      </a:r>
                      <a:r>
                        <a:rPr lang="en-US" altLang="zh-TW" dirty="0"/>
                        <a:t>/</a:t>
                      </a:r>
                      <a:r>
                        <a:rPr lang="zh-TW" altLang="en-US" dirty="0"/>
                        <a:t>降低音量、去雜音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0253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/>
                        <a:t>📼 合併分離音視訊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合併音訊與影片，或將音訊從影片中分離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24130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 dirty="0"/>
                        <a:t>📷 擷取畫面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從影片中截圖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73541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22169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D42995-7DBB-18AB-3AC9-803F92D4F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err="1"/>
              <a:t>ffmpeg</a:t>
            </a:r>
            <a:r>
              <a:rPr lang="zh-TW" altLang="en-US" dirty="0"/>
              <a:t>官網：</a:t>
            </a:r>
            <a:r>
              <a:rPr lang="en-US" altLang="zh-TW" dirty="0">
                <a:hlinkClick r:id="rId2"/>
              </a:rPr>
              <a:t>https://www.gyan.dev/ffmpeg/builds/</a:t>
            </a:r>
            <a:endParaRPr lang="zh-TW" altLang="en-US" dirty="0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11DA652E-A7E4-C4E3-1A97-90AE1C4312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57388" y="2286000"/>
            <a:ext cx="9229623" cy="3581400"/>
          </a:xfr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1AAE482A-141B-7120-F41D-4D9B7D90BD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0850" y="4346852"/>
            <a:ext cx="10132234" cy="339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4516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B6CE6B-3316-A2C5-0B0D-7ECB659F0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1415026-F7D6-6EDD-634F-D29D12FFD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60B8E397-9BF7-7F21-99EE-D5E3E05266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210037"/>
            <a:ext cx="3231082" cy="3581400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B95A73AD-1DBE-1D15-CE57-B8FDB4A79E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8126" b="15986"/>
          <a:stretch/>
        </p:blipFill>
        <p:spPr>
          <a:xfrm>
            <a:off x="4602682" y="2171700"/>
            <a:ext cx="3053288" cy="3372966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16709941-534B-07D3-3113-ABA326F9B5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5970" y="2171700"/>
            <a:ext cx="3398055" cy="3199699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15E536EE-B8B8-6933-A620-9EB1129211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9782" y="922292"/>
            <a:ext cx="6569592" cy="1211782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9B775B05-E7E6-DBF5-7F88-F9EEA49555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9782" y="677665"/>
            <a:ext cx="6569586" cy="237222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5D2528A2-B212-6BC1-C74D-2C77F3ED4C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9782" y="440024"/>
            <a:ext cx="6624810" cy="20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2457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237EBD-DB0B-AB90-9AD1-82C6801E0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CMD</a:t>
            </a:r>
            <a:r>
              <a:rPr lang="zh-TW" altLang="en-US" dirty="0"/>
              <a:t>：</a:t>
            </a:r>
            <a:r>
              <a:rPr lang="en-US" altLang="zh-TW" dirty="0" err="1"/>
              <a:t>ffmpeg</a:t>
            </a:r>
            <a:r>
              <a:rPr lang="en-US" altLang="zh-TW" dirty="0"/>
              <a:t> -version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CE71A533-7613-B8A7-DFEE-0EDFCD4AD0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600" y="2366795"/>
            <a:ext cx="9601200" cy="3419809"/>
          </a:xfrm>
        </p:spPr>
      </p:pic>
    </p:spTree>
    <p:extLst>
      <p:ext uri="{BB962C8B-B14F-4D97-AF65-F5344CB8AC3E}">
        <p14:creationId xmlns:p14="http://schemas.microsoft.com/office/powerpoint/2010/main" val="874296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C55CE3-EAEE-3809-44B7-158F5BEDE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說明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AE05700-BFE7-3E0B-3AB2-F9FB3C675E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7772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EB8321-911F-1E77-63D3-5C25BDCED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常見模型大小比較（</a:t>
            </a:r>
            <a:r>
              <a:rPr lang="en-US" altLang="zh-TW" dirty="0"/>
              <a:t>Whisper </a:t>
            </a:r>
            <a:r>
              <a:rPr lang="zh-TW" altLang="en-US" dirty="0"/>
              <a:t>模型）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249D83D-3CC6-B444-D94B-E3485E77A5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350129"/>
              </p:ext>
            </p:extLst>
          </p:nvPr>
        </p:nvGraphicFramePr>
        <p:xfrm>
          <a:off x="1295400" y="1468672"/>
          <a:ext cx="9601200" cy="2194560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300797806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542301552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4113186279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34525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TW" altLang="en-US" dirty="0"/>
                        <a:t>模型名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精準度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大小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推論速度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652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tiny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~39MB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快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273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中低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~74MB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快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2874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small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~244MB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普通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17289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~769MB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慢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031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large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非常高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~1550MB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很慢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6203971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BC8A9F0D-383E-CFE1-C15F-C324AC85BC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1388439"/>
              </p:ext>
            </p:extLst>
          </p:nvPr>
        </p:nvGraphicFramePr>
        <p:xfrm>
          <a:off x="1295400" y="3663232"/>
          <a:ext cx="9601200" cy="259461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4264158827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903577614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1168129607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1734850604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151141005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36350085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Size</a:t>
                      </a:r>
                    </a:p>
                  </a:txBody>
                  <a:tcPr marL="61913" marR="61913" marT="28575" marB="28575" anchor="ctr">
                    <a:lnL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Parameters</a:t>
                      </a:r>
                    </a:p>
                  </a:txBody>
                  <a:tcPr marL="61913" marR="61913" marT="28575" marB="28575" anchor="ctr">
                    <a:lnL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English-only model</a:t>
                      </a:r>
                    </a:p>
                  </a:txBody>
                  <a:tcPr marL="61913" marR="61913" marT="28575" marB="28575" anchor="ctr">
                    <a:lnL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Multilingual model</a:t>
                      </a:r>
                    </a:p>
                  </a:txBody>
                  <a:tcPr marL="61913" marR="61913" marT="28575" marB="28575" anchor="ctr">
                    <a:lnL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Required VRAM</a:t>
                      </a:r>
                    </a:p>
                  </a:txBody>
                  <a:tcPr marL="61913" marR="61913" marT="28575" marB="28575" anchor="ctr">
                    <a:lnL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Relative speed</a:t>
                      </a:r>
                    </a:p>
                  </a:txBody>
                  <a:tcPr marL="61913" marR="61913" marT="28575" marB="28575" anchor="ctr">
                    <a:lnL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764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tiny</a:t>
                      </a:r>
                    </a:p>
                  </a:txBody>
                  <a:tcPr marL="61913" marR="61913" marT="28575" marB="28575" anchor="ctr">
                    <a:lnL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39 M</a:t>
                      </a:r>
                    </a:p>
                  </a:txBody>
                  <a:tcPr marL="61913" marR="61913" marT="28575" marB="28575" anchor="ctr">
                    <a:lnL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tiny.en</a:t>
                      </a:r>
                    </a:p>
                  </a:txBody>
                  <a:tcPr marL="61913" marR="61913" marT="28575" marB="28575" anchor="ctr">
                    <a:lnL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tiny</a:t>
                      </a:r>
                    </a:p>
                  </a:txBody>
                  <a:tcPr marL="61913" marR="61913" marT="28575" marB="28575" anchor="ctr">
                    <a:lnL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~1 GB</a:t>
                      </a:r>
                    </a:p>
                  </a:txBody>
                  <a:tcPr marL="61913" marR="61913" marT="28575" marB="28575" anchor="ctr">
                    <a:lnL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~10x</a:t>
                      </a:r>
                    </a:p>
                  </a:txBody>
                  <a:tcPr marL="61913" marR="61913" marT="28575" marB="28575" anchor="ctr">
                    <a:lnL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801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base</a:t>
                      </a:r>
                    </a:p>
                  </a:txBody>
                  <a:tcPr marL="61913" marR="61913" marT="28575" marB="28575" anchor="ctr">
                    <a:lnL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74 M</a:t>
                      </a:r>
                    </a:p>
                  </a:txBody>
                  <a:tcPr marL="61913" marR="61913" marT="28575" marB="28575" anchor="ctr">
                    <a:lnL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base.en</a:t>
                      </a:r>
                    </a:p>
                  </a:txBody>
                  <a:tcPr marL="61913" marR="61913" marT="28575" marB="28575" anchor="ctr">
                    <a:lnL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base</a:t>
                      </a:r>
                    </a:p>
                  </a:txBody>
                  <a:tcPr marL="61913" marR="61913" marT="28575" marB="28575" anchor="ctr">
                    <a:lnL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~1 GB</a:t>
                      </a:r>
                    </a:p>
                  </a:txBody>
                  <a:tcPr marL="61913" marR="61913" marT="28575" marB="28575" anchor="ctr">
                    <a:lnL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~7x</a:t>
                      </a:r>
                    </a:p>
                  </a:txBody>
                  <a:tcPr marL="61913" marR="61913" marT="28575" marB="28575" anchor="ctr">
                    <a:lnL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6114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small</a:t>
                      </a:r>
                    </a:p>
                  </a:txBody>
                  <a:tcPr marL="61913" marR="61913" marT="28575" marB="28575" anchor="ctr">
                    <a:lnL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244 M</a:t>
                      </a:r>
                    </a:p>
                  </a:txBody>
                  <a:tcPr marL="61913" marR="61913" marT="28575" marB="28575" anchor="ctr">
                    <a:lnL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small.en</a:t>
                      </a:r>
                    </a:p>
                  </a:txBody>
                  <a:tcPr marL="61913" marR="61913" marT="28575" marB="28575" anchor="ctr">
                    <a:lnL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small</a:t>
                      </a:r>
                    </a:p>
                  </a:txBody>
                  <a:tcPr marL="61913" marR="61913" marT="28575" marB="28575" anchor="ctr">
                    <a:lnL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~2 GB</a:t>
                      </a:r>
                    </a:p>
                  </a:txBody>
                  <a:tcPr marL="61913" marR="61913" marT="28575" marB="28575" anchor="ctr">
                    <a:lnL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~4x</a:t>
                      </a:r>
                    </a:p>
                  </a:txBody>
                  <a:tcPr marL="61913" marR="61913" marT="28575" marB="28575" anchor="ctr">
                    <a:lnL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390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medium</a:t>
                      </a:r>
                    </a:p>
                  </a:txBody>
                  <a:tcPr marL="61913" marR="61913" marT="28575" marB="28575" anchor="ctr">
                    <a:lnL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769 M</a:t>
                      </a:r>
                    </a:p>
                  </a:txBody>
                  <a:tcPr marL="61913" marR="61913" marT="28575" marB="28575" anchor="ctr">
                    <a:lnL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medium.en</a:t>
                      </a:r>
                    </a:p>
                  </a:txBody>
                  <a:tcPr marL="61913" marR="61913" marT="28575" marB="28575" anchor="ctr">
                    <a:lnL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medium</a:t>
                      </a:r>
                    </a:p>
                  </a:txBody>
                  <a:tcPr marL="61913" marR="61913" marT="28575" marB="28575" anchor="ctr">
                    <a:lnL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~5 GB</a:t>
                      </a:r>
                    </a:p>
                  </a:txBody>
                  <a:tcPr marL="61913" marR="61913" marT="28575" marB="28575" anchor="ctr">
                    <a:lnL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~2x</a:t>
                      </a:r>
                    </a:p>
                  </a:txBody>
                  <a:tcPr marL="61913" marR="61913" marT="28575" marB="28575" anchor="ctr">
                    <a:lnL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0293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large</a:t>
                      </a:r>
                    </a:p>
                  </a:txBody>
                  <a:tcPr marL="61913" marR="61913" marT="28575" marB="28575" anchor="ctr">
                    <a:lnL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1550 M</a:t>
                      </a:r>
                    </a:p>
                  </a:txBody>
                  <a:tcPr marL="61913" marR="61913" marT="28575" marB="28575" anchor="ctr">
                    <a:lnL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N/A</a:t>
                      </a:r>
                    </a:p>
                  </a:txBody>
                  <a:tcPr marL="61913" marR="61913" marT="28575" marB="28575" anchor="ctr">
                    <a:lnL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large</a:t>
                      </a:r>
                    </a:p>
                  </a:txBody>
                  <a:tcPr marL="61913" marR="61913" marT="28575" marB="28575" anchor="ctr">
                    <a:lnL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~10 GB</a:t>
                      </a:r>
                    </a:p>
                  </a:txBody>
                  <a:tcPr marL="61913" marR="61913" marT="28575" marB="28575" anchor="ctr">
                    <a:lnL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1x</a:t>
                      </a:r>
                    </a:p>
                  </a:txBody>
                  <a:tcPr marL="61913" marR="61913" marT="28575" marB="28575" anchor="ctr">
                    <a:lnL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11222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turbo</a:t>
                      </a:r>
                    </a:p>
                  </a:txBody>
                  <a:tcPr marL="61913" marR="61913" marT="28575" marB="28575" anchor="ctr">
                    <a:lnL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809 M</a:t>
                      </a:r>
                    </a:p>
                  </a:txBody>
                  <a:tcPr marL="61913" marR="61913" marT="28575" marB="28575" anchor="ctr">
                    <a:lnL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N/A</a:t>
                      </a:r>
                    </a:p>
                  </a:txBody>
                  <a:tcPr marL="61913" marR="61913" marT="28575" marB="28575" anchor="ctr">
                    <a:lnL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turbo</a:t>
                      </a:r>
                    </a:p>
                  </a:txBody>
                  <a:tcPr marL="61913" marR="61913" marT="28575" marB="28575" anchor="ctr">
                    <a:lnL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~6 GB</a:t>
                      </a:r>
                    </a:p>
                  </a:txBody>
                  <a:tcPr marL="61913" marR="61913" marT="28575" marB="28575" anchor="ctr">
                    <a:lnL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~8x</a:t>
                      </a:r>
                    </a:p>
                  </a:txBody>
                  <a:tcPr marL="61913" marR="61913" marT="28575" marB="28575" anchor="ctr">
                    <a:lnL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4462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27184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8FB74E73-FA14-E7F9-D705-C1388E563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Python</a:t>
            </a:r>
            <a:r>
              <a:rPr lang="zh-TW" altLang="en-US" dirty="0"/>
              <a:t>程式</a:t>
            </a:r>
          </a:p>
        </p:txBody>
      </p:sp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4A320E56-694D-79FD-648E-7114E103AFD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Font typeface="Franklin Gothic Book" panose="020B0503020102020204" pitchFamily="34" charset="0"/>
              <a:buNone/>
            </a:pPr>
            <a:r>
              <a:rPr lang="en-US" altLang="zh-TW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4EC9B0"/>
                </a:solidFill>
                <a:latin typeface="Consolas" panose="020B0609020204030204" pitchFamily="49" charset="0"/>
              </a:rPr>
              <a:t>whisper</a:t>
            </a:r>
            <a:endParaRPr lang="en-US" altLang="zh-TW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Font typeface="Franklin Gothic Book" panose="020B0503020102020204" pitchFamily="34" charset="0"/>
              <a:buNone/>
            </a:pPr>
            <a:b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altLang="zh-TW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 err="1">
                <a:solidFill>
                  <a:srgbClr val="DCDCAA"/>
                </a:solidFill>
                <a:latin typeface="Consolas" panose="020B0609020204030204" pitchFamily="49" charset="0"/>
              </a:rPr>
              <a:t>transcribe_audio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zh-TW" dirty="0" err="1">
                <a:solidFill>
                  <a:srgbClr val="9CDCFE"/>
                </a:solidFill>
                <a:latin typeface="Consolas" panose="020B0609020204030204" pitchFamily="49" charset="0"/>
              </a:rPr>
              <a:t>file_path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en-US" altLang="zh-TW" dirty="0">
                <a:solidFill>
                  <a:srgbClr val="4EC9B0"/>
                </a:solidFill>
                <a:latin typeface="Consolas" panose="020B0609020204030204" pitchFamily="49" charset="0"/>
              </a:rPr>
              <a:t>str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pPr marL="0" indent="0">
              <a:spcBef>
                <a:spcPts val="600"/>
              </a:spcBef>
              <a:buFont typeface="Franklin Gothic Book" panose="020B0503020102020204" pitchFamily="34" charset="0"/>
              <a:buNone/>
            </a:pP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zh-TW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zh-TW" altLang="en-US" dirty="0">
                <a:solidFill>
                  <a:srgbClr val="CE9178"/>
                </a:solidFill>
                <a:latin typeface="Consolas" panose="020B0609020204030204" pitchFamily="49" charset="0"/>
              </a:rPr>
              <a:t>🔍 載入模型</a:t>
            </a:r>
            <a:r>
              <a:rPr lang="en-US" altLang="zh-TW" dirty="0">
                <a:solidFill>
                  <a:srgbClr val="CE9178"/>
                </a:solidFill>
                <a:latin typeface="Consolas" panose="020B0609020204030204" pitchFamily="49" charset="0"/>
              </a:rPr>
              <a:t>..."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600"/>
              </a:spcBef>
              <a:buFont typeface="Franklin Gothic Book" panose="020B0503020102020204" pitchFamily="34" charset="0"/>
              <a:buNone/>
            </a:pP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>
                <a:solidFill>
                  <a:srgbClr val="9CDCFE"/>
                </a:solidFill>
                <a:latin typeface="Consolas" panose="020B0609020204030204" pitchFamily="49" charset="0"/>
              </a:rPr>
              <a:t>model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 err="1">
                <a:solidFill>
                  <a:srgbClr val="4EC9B0"/>
                </a:solidFill>
                <a:latin typeface="Consolas" panose="020B0609020204030204" pitchFamily="49" charset="0"/>
              </a:rPr>
              <a:t>whisper</a:t>
            </a:r>
            <a:r>
              <a:rPr lang="en-US" altLang="zh-TW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altLang="zh-TW" dirty="0" err="1">
                <a:solidFill>
                  <a:srgbClr val="DCDCAA"/>
                </a:solidFill>
                <a:latin typeface="Consolas" panose="020B0609020204030204" pitchFamily="49" charset="0"/>
              </a:rPr>
              <a:t>load_model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zh-TW" dirty="0">
                <a:solidFill>
                  <a:srgbClr val="CE9178"/>
                </a:solidFill>
                <a:latin typeface="Consolas" panose="020B0609020204030204" pitchFamily="49" charset="0"/>
              </a:rPr>
              <a:t>“base”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  <a:r>
              <a:rPr lang="en-US" altLang="zh-TW" dirty="0">
                <a:solidFill>
                  <a:schemeClr val="accent3"/>
                </a:solidFill>
                <a:latin typeface="Consolas" panose="020B0609020204030204" pitchFamily="49" charset="0"/>
              </a:rPr>
              <a:t>#</a:t>
            </a:r>
            <a:r>
              <a:rPr lang="zh-TW" altLang="en-US" dirty="0">
                <a:solidFill>
                  <a:schemeClr val="accent3"/>
                </a:solidFill>
                <a:latin typeface="Consolas" panose="020B0609020204030204" pitchFamily="49" charset="0"/>
              </a:rPr>
              <a:t>載入所選擇的模型</a:t>
            </a:r>
            <a:endParaRPr lang="en-US" altLang="zh-TW" dirty="0">
              <a:solidFill>
                <a:schemeClr val="accent3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Font typeface="Franklin Gothic Book" panose="020B0503020102020204" pitchFamily="34" charset="0"/>
              <a:buNone/>
            </a:pP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zh-TW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zh-TW" altLang="en-US" dirty="0">
                <a:solidFill>
                  <a:srgbClr val="CE9178"/>
                </a:solidFill>
                <a:latin typeface="Consolas" panose="020B0609020204030204" pitchFamily="49" charset="0"/>
              </a:rPr>
              <a:t>✅ 模型載入完成。開始辨識音訊檔</a:t>
            </a:r>
            <a:r>
              <a:rPr lang="en-US" altLang="zh-TW" dirty="0">
                <a:solidFill>
                  <a:srgbClr val="CE9178"/>
                </a:solidFill>
                <a:latin typeface="Consolas" panose="020B0609020204030204" pitchFamily="49" charset="0"/>
              </a:rPr>
              <a:t>..."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600"/>
              </a:spcBef>
              <a:buFont typeface="Franklin Gothic Book" panose="020B0503020102020204" pitchFamily="34" charset="0"/>
              <a:buNone/>
            </a:pPr>
            <a:b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>
                <a:solidFill>
                  <a:srgbClr val="9CDCFE"/>
                </a:solidFill>
                <a:latin typeface="Consolas" panose="020B0609020204030204" pitchFamily="49" charset="0"/>
              </a:rPr>
              <a:t>result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 err="1">
                <a:solidFill>
                  <a:srgbClr val="9CDCFE"/>
                </a:solidFill>
                <a:latin typeface="Consolas" panose="020B0609020204030204" pitchFamily="49" charset="0"/>
              </a:rPr>
              <a:t>model</a:t>
            </a:r>
            <a:r>
              <a:rPr lang="en-US" altLang="zh-TW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altLang="zh-TW" dirty="0" err="1">
                <a:solidFill>
                  <a:srgbClr val="9CDCFE"/>
                </a:solidFill>
                <a:latin typeface="Consolas" panose="020B0609020204030204" pitchFamily="49" charset="0"/>
              </a:rPr>
              <a:t>transcribe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zh-TW" dirty="0" err="1">
                <a:solidFill>
                  <a:srgbClr val="9CDCFE"/>
                </a:solidFill>
                <a:latin typeface="Consolas" panose="020B0609020204030204" pitchFamily="49" charset="0"/>
              </a:rPr>
              <a:t>file_path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  <a:r>
              <a:rPr lang="en-US" altLang="zh-TW" dirty="0">
                <a:solidFill>
                  <a:schemeClr val="accent3"/>
                </a:solidFill>
                <a:latin typeface="Consolas" panose="020B0609020204030204" pitchFamily="49" charset="0"/>
              </a:rPr>
              <a:t>#</a:t>
            </a:r>
            <a:r>
              <a:rPr lang="zh-TW" altLang="en-US" dirty="0">
                <a:solidFill>
                  <a:schemeClr val="accent3"/>
                </a:solidFill>
                <a:latin typeface="Consolas" panose="020B0609020204030204" pitchFamily="49" charset="0"/>
              </a:rPr>
              <a:t>使用模型對輸入的音訊檔案進行轉錄</a:t>
            </a:r>
            <a:endParaRPr lang="en-US" altLang="zh-TW" dirty="0">
              <a:solidFill>
                <a:schemeClr val="accent3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Font typeface="Franklin Gothic Book" panose="020B0503020102020204" pitchFamily="34" charset="0"/>
              <a:buNone/>
            </a:pPr>
            <a:b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zh-TW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altLang="zh-TW" dirty="0">
                <a:solidFill>
                  <a:srgbClr val="D7BA7D"/>
                </a:solidFill>
                <a:latin typeface="Consolas" panose="020B0609020204030204" pitchFamily="49" charset="0"/>
              </a:rPr>
              <a:t>\n</a:t>
            </a:r>
            <a:r>
              <a:rPr lang="zh-TW" altLang="en-US" dirty="0">
                <a:solidFill>
                  <a:srgbClr val="CE9178"/>
                </a:solidFill>
                <a:latin typeface="Consolas" panose="020B0609020204030204" pitchFamily="49" charset="0"/>
              </a:rPr>
              <a:t>📝 辨識結果：</a:t>
            </a:r>
            <a:r>
              <a:rPr lang="en-US" altLang="zh-TW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600"/>
              </a:spcBef>
              <a:buFont typeface="Franklin Gothic Book" panose="020B0503020102020204" pitchFamily="34" charset="0"/>
              <a:buNone/>
            </a:pP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zh-TW" dirty="0">
                <a:solidFill>
                  <a:srgbClr val="9CDCFE"/>
                </a:solidFill>
                <a:latin typeface="Consolas" panose="020B0609020204030204" pitchFamily="49" charset="0"/>
              </a:rPr>
              <a:t>result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en-US" altLang="zh-TW" dirty="0">
                <a:solidFill>
                  <a:srgbClr val="CE9178"/>
                </a:solidFill>
                <a:latin typeface="Consolas" panose="020B0609020204030204" pitchFamily="49" charset="0"/>
              </a:rPr>
              <a:t>"text"</a:t>
            </a:r>
            <a:r>
              <a:rPr lang="en-US" altLang="zh-TW" dirty="0">
                <a:solidFill>
                  <a:srgbClr val="CCCCCC"/>
                </a:solidFill>
                <a:latin typeface="Consolas" panose="020B0609020204030204" pitchFamily="49" charset="0"/>
              </a:rPr>
              <a:t>])</a:t>
            </a:r>
          </a:p>
          <a:p>
            <a:pPr marL="0" indent="0">
              <a:spcBef>
                <a:spcPts val="600"/>
              </a:spcBef>
              <a:buFont typeface="Franklin Gothic Book" panose="020B0503020102020204" pitchFamily="34" charset="0"/>
              <a:buNone/>
            </a:pPr>
            <a:endParaRPr lang="en-US" altLang="zh-TW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10049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C55CE3-EAEE-3809-44B7-158F5BEDE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程式說明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AE05700-BFE7-3E0B-3AB2-F9FB3C675E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8002806"/>
      </p:ext>
    </p:extLst>
  </p:cSld>
  <p:clrMapOvr>
    <a:masterClrMapping/>
  </p:clrMapOvr>
</p:sld>
</file>

<file path=ppt/theme/theme1.xml><?xml version="1.0" encoding="utf-8"?>
<a:theme xmlns:a="http://schemas.openxmlformats.org/drawingml/2006/main" name="裁剪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裁剪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裁剪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裁剪</Template>
  <TotalTime>290</TotalTime>
  <Words>799</Words>
  <Application>Microsoft Office PowerPoint</Application>
  <PresentationFormat>寬螢幕</PresentationFormat>
  <Paragraphs>160</Paragraphs>
  <Slides>20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3" baseType="lpstr">
      <vt:lpstr>Consolas</vt:lpstr>
      <vt:lpstr>Franklin Gothic Book</vt:lpstr>
      <vt:lpstr>裁剪</vt:lpstr>
      <vt:lpstr>第三周 ASR</vt:lpstr>
      <vt:lpstr>ASR 是什麼？</vt:lpstr>
      <vt:lpstr>ASR是什麼?</vt:lpstr>
      <vt:lpstr>常見用途：</vt:lpstr>
      <vt:lpstr>PowerPoint 簡報</vt:lpstr>
      <vt:lpstr>PowerPoint 簡報</vt:lpstr>
      <vt:lpstr>展示</vt:lpstr>
      <vt:lpstr>asr_whisper</vt:lpstr>
      <vt:lpstr>實作ASR應用</vt:lpstr>
      <vt:lpstr>Python程式</vt:lpstr>
      <vt:lpstr>python</vt:lpstr>
      <vt:lpstr>安裝ffmpeg</vt:lpstr>
      <vt:lpstr>介紹:ffmpeg</vt:lpstr>
      <vt:lpstr>ffmpeg官網：https://www.gyan.dev/ffmpeg/builds/</vt:lpstr>
      <vt:lpstr>PowerPoint 簡報</vt:lpstr>
      <vt:lpstr>CMD：ffmpeg -version</vt:lpstr>
      <vt:lpstr>說明</vt:lpstr>
      <vt:lpstr>常見模型大小比較（Whisper 模型）</vt:lpstr>
      <vt:lpstr>Python程式</vt:lpstr>
      <vt:lpstr>程式說明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d11216208victor@gmail.com</dc:creator>
  <cp:lastModifiedBy>D11216208victor@gmail.com</cp:lastModifiedBy>
  <cp:revision>4</cp:revision>
  <dcterms:created xsi:type="dcterms:W3CDTF">2025-07-22T14:40:39Z</dcterms:created>
  <dcterms:modified xsi:type="dcterms:W3CDTF">2025-08-07T03:59:40Z</dcterms:modified>
</cp:coreProperties>
</file>